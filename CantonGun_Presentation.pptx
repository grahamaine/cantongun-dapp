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0" y="182880"/>
            <a:ext cx="2194560" cy="2194560"/>
          </a:xfrm>
          <a:prstGeom prst="ellipse">
            <a:avLst/>
          </a:prstGeom>
          <a:solidFill>
            <a:srgbClr val="2F9BFF">
              <a:alpha val="12000"/>
            </a:srgbClr>
          </a:solidFill>
          <a:ln w="12700">
            <a:solidFill>
              <a:srgbClr val="7F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749040" y="411480"/>
            <a:ext cx="1645920" cy="1645920"/>
          </a:xfrm>
          <a:prstGeom prst="ellipse">
            <a:avLst/>
          </a:prstGeom>
          <a:solidFill>
            <a:srgbClr val="111E33"/>
          </a:solidFill>
          <a:ln w="25400">
            <a:solidFill>
              <a:srgbClr val="2F9B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49040" y="41148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🎯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spc="800" kern="0" dirty="0">
                <a:solidFill>
                  <a:srgbClr val="7F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CANTONGUN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100" kern="0" dirty="0">
                <a:solidFill>
                  <a:srgbClr val="E7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Capital Markets on Canton L1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286000" y="3977640"/>
            <a:ext cx="4572000" cy="502920"/>
          </a:xfrm>
          <a:prstGeom prst="roundRect">
            <a:avLst>
              <a:gd name="adj" fmla="val 36364"/>
            </a:avLst>
          </a:prstGeom>
          <a:solidFill>
            <a:srgbClr val="FF8A1E">
              <a:alpha val="18000"/>
            </a:srgbClr>
          </a:solidFill>
          <a:ln w="12700">
            <a:solidFill>
              <a:srgbClr val="FF8A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39776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B1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 We enforce NDAs mathematically. 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8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Canton Hackathon 2024  ·  zk-attested  ·  atomically settled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8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7EE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Capital Markets Lack Privacy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4023360" cy="1325880"/>
          </a:xfrm>
          <a:prstGeom prst="roundRect">
            <a:avLst>
              <a:gd name="adj" fmla="val 8276"/>
            </a:avLst>
          </a:prstGeom>
          <a:solidFill>
            <a:srgbClr val="0D1729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228600" dist="50800" dir="2700000">
              <a:srgbClr val="000000">
                <a:alpha val="5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0352" y="163677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1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👁  Exposed Order Flow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30352" y="2002536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see your bids, asks, and strategy before settlement. Front-running is endemic.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508760"/>
            <a:ext cx="4023360" cy="1325880"/>
          </a:xfrm>
          <a:prstGeom prst="roundRect">
            <a:avLst>
              <a:gd name="adj" fmla="val 8276"/>
            </a:avLst>
          </a:prstGeom>
          <a:solidFill>
            <a:srgbClr val="0D1729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228600" dist="50800" dir="2700000">
              <a:srgbClr val="000000">
                <a:alpha val="5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28032" y="163677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1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📄  Paper-Only NDAs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28032" y="2002536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 agreements aren't enforced in real-time — breaches are discovered after the damage is done.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017520"/>
            <a:ext cx="4023360" cy="1325880"/>
          </a:xfrm>
          <a:prstGeom prst="roundRect">
            <a:avLst>
              <a:gd name="adj" fmla="val 8276"/>
            </a:avLst>
          </a:prstGeom>
          <a:solidFill>
            <a:srgbClr val="0D1729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228600" dist="50800" dir="2700000">
              <a:srgbClr val="000000">
                <a:alpha val="5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0352" y="314553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1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🕳  Leaky Settlement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30352" y="3511296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Post-trade data leaks counterparty details to the market long before netting is complete.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3017520"/>
            <a:ext cx="4023360" cy="1325880"/>
          </a:xfrm>
          <a:prstGeom prst="roundRect">
            <a:avLst>
              <a:gd name="adj" fmla="val 8276"/>
            </a:avLst>
          </a:prstGeom>
          <a:solidFill>
            <a:srgbClr val="0D1729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228600" dist="50800" dir="2700000">
              <a:srgbClr val="000000">
                <a:alpha val="5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28032" y="314553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1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⏳  Slow &amp; Manual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28032" y="3511296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checks are reconciled manually across siloed systems, causing T+2 or longer delays.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8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CantonGun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65760" y="137160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7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Ledger-enforced confidentiality for institutional capital markets.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2176272"/>
            <a:ext cx="274320" cy="274320"/>
          </a:xfrm>
          <a:prstGeom prst="ellipse">
            <a:avLst/>
          </a:prstGeom>
          <a:solidFill>
            <a:srgbClr val="2F9BFF"/>
          </a:solidFill>
          <a:ln w="12700">
            <a:solidFill>
              <a:srgbClr val="7F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1305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Canton's sub-transaction privacy — each party sees only what they're entitled to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834640"/>
            <a:ext cx="274320" cy="274320"/>
          </a:xfrm>
          <a:prstGeom prst="ellipse">
            <a:avLst/>
          </a:prstGeom>
          <a:solidFill>
            <a:srgbClr val="2F9BFF"/>
          </a:solidFill>
          <a:ln w="12700">
            <a:solidFill>
              <a:srgbClr val="7F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788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DAML smart contracts enforce NDAs at the protocol level — not just policy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493008"/>
            <a:ext cx="274320" cy="274320"/>
          </a:xfrm>
          <a:prstGeom prst="ellipse">
            <a:avLst/>
          </a:prstGeom>
          <a:solidFill>
            <a:srgbClr val="2F9BFF"/>
          </a:solidFill>
          <a:ln w="12700">
            <a:solidFill>
              <a:srgbClr val="7F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344728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settlement with zero information leakage to non-parties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4151376"/>
            <a:ext cx="274320" cy="274320"/>
          </a:xfrm>
          <a:prstGeom prst="ellipse">
            <a:avLst/>
          </a:prstGeom>
          <a:solidFill>
            <a:srgbClr val="2F9BFF"/>
          </a:solidFill>
          <a:ln w="12700">
            <a:solidFill>
              <a:srgbClr val="7F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410565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regulatory disclosure without exposing competitive data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0" y="548640"/>
            <a:ext cx="3749040" cy="4297680"/>
          </a:xfrm>
          <a:prstGeom prst="roundRect">
            <a:avLst>
              <a:gd name="adj" fmla="val 2927"/>
            </a:avLst>
          </a:prstGeom>
          <a:solidFill>
            <a:srgbClr val="0D1729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228600" dist="50800" dir="2700000">
              <a:srgbClr val="000000">
                <a:alpha val="5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0" y="65836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F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Architecture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257800" y="1143000"/>
            <a:ext cx="3291840" cy="530352"/>
          </a:xfrm>
          <a:prstGeom prst="roundRect">
            <a:avLst>
              <a:gd name="adj" fmla="val 13793"/>
            </a:avLst>
          </a:prstGeom>
          <a:solidFill>
            <a:srgbClr val="2F4F6F"/>
          </a:solidFill>
          <a:ln w="12700">
            <a:solidFill>
              <a:srgbClr val="2F9B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57800" y="1143000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7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  Regulatory Layer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257800" y="1801368"/>
            <a:ext cx="3291840" cy="530352"/>
          </a:xfrm>
          <a:prstGeom prst="roundRect">
            <a:avLst>
              <a:gd name="adj" fmla="val 13793"/>
            </a:avLst>
          </a:prstGeom>
          <a:solidFill>
            <a:srgbClr val="1E3D5C"/>
          </a:solidFill>
          <a:ln w="12700">
            <a:solidFill>
              <a:srgbClr val="2F9B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57800" y="1801368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7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🔏  Compliance Disclosure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257800" y="2459736"/>
            <a:ext cx="3291840" cy="530352"/>
          </a:xfrm>
          <a:prstGeom prst="roundRect">
            <a:avLst>
              <a:gd name="adj" fmla="val 13793"/>
            </a:avLst>
          </a:prstGeom>
          <a:solidFill>
            <a:srgbClr val="163354"/>
          </a:solidFill>
          <a:ln w="12700">
            <a:solidFill>
              <a:srgbClr val="2F9B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57800" y="2459736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7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Guard Syndication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257800" y="3118104"/>
            <a:ext cx="3291840" cy="530352"/>
          </a:xfrm>
          <a:prstGeom prst="roundRect">
            <a:avLst>
              <a:gd name="adj" fmla="val 13793"/>
            </a:avLst>
          </a:prstGeom>
          <a:solidFill>
            <a:srgbClr val="0F2540"/>
          </a:solidFill>
          <a:ln w="12700">
            <a:solidFill>
              <a:srgbClr val="2F9B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57800" y="3118104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7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Private OTC Orders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257800" y="3776472"/>
            <a:ext cx="3291840" cy="530352"/>
          </a:xfrm>
          <a:prstGeom prst="roundRect">
            <a:avLst>
              <a:gd name="adj" fmla="val 13793"/>
            </a:avLst>
          </a:prstGeom>
          <a:solidFill>
            <a:srgbClr val="2F9BFF"/>
          </a:solidFill>
          <a:ln w="25400">
            <a:solidFill>
              <a:srgbClr val="2F9B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57800" y="3776472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Canton L1 Ledger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8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7EE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Desks, One Privacy Guarantee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417320"/>
            <a:ext cx="2697480" cy="3429000"/>
          </a:xfrm>
          <a:prstGeom prst="roundRect">
            <a:avLst>
              <a:gd name="adj" fmla="val 4068"/>
            </a:avLst>
          </a:prstGeom>
          <a:solidFill>
            <a:srgbClr val="0D1729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228600" dist="50800" dir="2700000">
              <a:srgbClr val="000000">
                <a:alpha val="5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25880" y="1554480"/>
            <a:ext cx="640080" cy="640080"/>
          </a:xfrm>
          <a:prstGeom prst="ellipse">
            <a:avLst/>
          </a:prstGeom>
          <a:solidFill>
            <a:srgbClr val="2F9BFF">
              <a:alpha val="25000"/>
            </a:srgbClr>
          </a:solidFill>
          <a:ln w="25400">
            <a:solidFill>
              <a:srgbClr val="2F9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Confidential OTC Desk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8803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Submit private limit orders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331927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Identity hidden from all non-parties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375818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Guard sees only price band — not identity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419709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Atomically matched &amp; settled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172968" y="1417320"/>
            <a:ext cx="2697480" cy="3429000"/>
          </a:xfrm>
          <a:prstGeom prst="roundRect">
            <a:avLst>
              <a:gd name="adj" fmla="val 4068"/>
            </a:avLst>
          </a:prstGeom>
          <a:solidFill>
            <a:srgbClr val="0D1729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228600" dist="50800" dir="2700000">
              <a:srgbClr val="000000">
                <a:alpha val="5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78808" y="1554480"/>
            <a:ext cx="640080" cy="640080"/>
          </a:xfrm>
          <a:prstGeom prst="ellipse">
            <a:avLst/>
          </a:prstGeom>
          <a:solidFill>
            <a:srgbClr val="FF8A1E">
              <a:alpha val="25000"/>
            </a:srgbClr>
          </a:solidFill>
          <a:ln w="25400">
            <a:solidFill>
              <a:srgbClr val="FF8A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78808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🏦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310128" y="228600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Credit Desk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55848" y="28803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Syndicated loan origination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355848" y="331927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Lenders fund with selective visibility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355848" y="375818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Borrower data shared only with Guard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355848" y="419709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zk-attested credit proofs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025896" y="1417320"/>
            <a:ext cx="2697480" cy="3429000"/>
          </a:xfrm>
          <a:prstGeom prst="roundRect">
            <a:avLst>
              <a:gd name="adj" fmla="val 4068"/>
            </a:avLst>
          </a:prstGeom>
          <a:solidFill>
            <a:srgbClr val="0D1729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228600" dist="50800" dir="2700000">
              <a:srgbClr val="000000">
                <a:alpha val="5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031736" y="1554480"/>
            <a:ext cx="640080" cy="640080"/>
          </a:xfrm>
          <a:prstGeom prst="ellipse">
            <a:avLst/>
          </a:prstGeom>
          <a:solidFill>
            <a:srgbClr val="36D399">
              <a:alpha val="25000"/>
            </a:srgbClr>
          </a:solidFill>
          <a:ln w="25400">
            <a:solidFill>
              <a:srgbClr val="36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31736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🔏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163056" y="228600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6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&amp; Disclosure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08776" y="28803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Regulatory reports per party entitlement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208776" y="331927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Verifier sees cross-party summaries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208776" y="375818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Regulator has full disclosure view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208776" y="419709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Audit trail without data leakage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8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7EE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DAML + Canton: Privacy by Construction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548640" cy="548640"/>
          </a:xfrm>
          <a:prstGeom prst="ellipse">
            <a:avLst/>
          </a:prstGeom>
          <a:solidFill>
            <a:srgbClr val="2F9BFF"/>
          </a:solidFill>
          <a:ln w="12700">
            <a:solidFill>
              <a:srgbClr val="7F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0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" y="2075688"/>
            <a:ext cx="0" cy="310896"/>
          </a:xfrm>
          <a:prstGeom prst="line">
            <a:avLst/>
          </a:prstGeom>
          <a:noFill/>
          <a:ln w="12700">
            <a:solidFill>
              <a:srgbClr val="2F9BFF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097280" y="1453896"/>
            <a:ext cx="7589520" cy="676656"/>
          </a:xfrm>
          <a:prstGeom prst="roundRect">
            <a:avLst>
              <a:gd name="adj" fmla="val 16216"/>
            </a:avLst>
          </a:prstGeom>
          <a:solidFill>
            <a:srgbClr val="0D1729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228600" dist="50800" dir="2700000">
              <a:srgbClr val="000000">
                <a:alpha val="5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280160" y="1527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DAML Contracts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819656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contracts define who sees what. Observers, signatories, and stakeholders are declared in code.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368296"/>
            <a:ext cx="548640" cy="548640"/>
          </a:xfrm>
          <a:prstGeom prst="ellipse">
            <a:avLst/>
          </a:prstGeom>
          <a:solidFill>
            <a:srgbClr val="2F9BFF"/>
          </a:solidFill>
          <a:ln w="12700">
            <a:solidFill>
              <a:srgbClr val="7F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36829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0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0936" y="2935224"/>
            <a:ext cx="0" cy="310896"/>
          </a:xfrm>
          <a:prstGeom prst="line">
            <a:avLst/>
          </a:prstGeom>
          <a:noFill/>
          <a:ln w="12700">
            <a:solidFill>
              <a:srgbClr val="2F9BFF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1097280" y="2313432"/>
            <a:ext cx="7589520" cy="676656"/>
          </a:xfrm>
          <a:prstGeom prst="roundRect">
            <a:avLst>
              <a:gd name="adj" fmla="val 16216"/>
            </a:avLst>
          </a:prstGeom>
          <a:solidFill>
            <a:srgbClr val="0D1729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228600" dist="50800" dir="2700000">
              <a:srgbClr val="000000">
                <a:alpha val="5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280160" y="23865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Canton Sub-Tx Privacy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2679192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Canton routes each contract only to its declared parties. No global broadcast — ever.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227832"/>
            <a:ext cx="548640" cy="548640"/>
          </a:xfrm>
          <a:prstGeom prst="ellipse">
            <a:avLst/>
          </a:prstGeom>
          <a:solidFill>
            <a:srgbClr val="2F9BFF"/>
          </a:solidFill>
          <a:ln w="12700">
            <a:solidFill>
              <a:srgbClr val="7F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278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0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0936" y="3794760"/>
            <a:ext cx="0" cy="310896"/>
          </a:xfrm>
          <a:prstGeom prst="line">
            <a:avLst/>
          </a:prstGeom>
          <a:noFill/>
          <a:ln w="12700">
            <a:solidFill>
              <a:srgbClr val="2F9BFF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1097280" y="3172968"/>
            <a:ext cx="7589520" cy="676656"/>
          </a:xfrm>
          <a:prstGeom prst="roundRect">
            <a:avLst>
              <a:gd name="adj" fmla="val 16216"/>
            </a:avLst>
          </a:prstGeom>
          <a:solidFill>
            <a:srgbClr val="0D1729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228600" dist="50800" dir="2700000">
              <a:srgbClr val="000000">
                <a:alpha val="5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280160" y="32461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 Syndication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0" y="3538728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Guard node syndicates matched orders atomically. Both sides see the result; neither sees the other's identity.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087368"/>
            <a:ext cx="548640" cy="548640"/>
          </a:xfrm>
          <a:prstGeom prst="ellipse">
            <a:avLst/>
          </a:prstGeom>
          <a:solidFill>
            <a:srgbClr val="2F9BFF"/>
          </a:solidFill>
          <a:ln w="12700">
            <a:solidFill>
              <a:srgbClr val="7FD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873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0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97280" y="4032504"/>
            <a:ext cx="7589520" cy="676656"/>
          </a:xfrm>
          <a:prstGeom prst="roundRect">
            <a:avLst>
              <a:gd name="adj" fmla="val 16216"/>
            </a:avLst>
          </a:prstGeom>
          <a:solidFill>
            <a:srgbClr val="0D1729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228600" dist="50800" dir="2700000">
              <a:srgbClr val="000000">
                <a:alpha val="5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280160" y="41056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Atomic Settlement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80160" y="4398264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legs of a transaction settle simultaneously on-ledger. No partial fills, no information leakage mid-settlement.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8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7EE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389888"/>
            <a:ext cx="2697480" cy="3520440"/>
          </a:xfrm>
          <a:prstGeom prst="roundRect">
            <a:avLst>
              <a:gd name="adj" fmla="val 4068"/>
            </a:avLst>
          </a:prstGeom>
          <a:solidFill>
            <a:srgbClr val="0D1729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228600" dist="50800" dir="2700000">
              <a:srgbClr val="000000">
                <a:alpha val="5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481328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F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30352" y="2011680"/>
            <a:ext cx="2377440" cy="411480"/>
          </a:xfrm>
          <a:prstGeom prst="roundRect">
            <a:avLst>
              <a:gd name="adj" fmla="val 13333"/>
            </a:avLst>
          </a:prstGeom>
          <a:solidFill>
            <a:srgbClr val="0A1120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20116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7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" y="2542032"/>
            <a:ext cx="2377440" cy="411480"/>
          </a:xfrm>
          <a:prstGeom prst="roundRect">
            <a:avLst>
              <a:gd name="adj" fmla="val 13333"/>
            </a:avLst>
          </a:prstGeom>
          <a:solidFill>
            <a:srgbClr val="0A1120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254203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7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5 build tool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0352" y="3072384"/>
            <a:ext cx="2377440" cy="411480"/>
          </a:xfrm>
          <a:prstGeom prst="roundRect">
            <a:avLst>
              <a:gd name="adj" fmla="val 13333"/>
            </a:avLst>
          </a:prstGeom>
          <a:solidFill>
            <a:srgbClr val="0A1120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3072384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7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Canton Wallet SDK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0352" y="3602736"/>
            <a:ext cx="2377440" cy="411480"/>
          </a:xfrm>
          <a:prstGeom prst="roundRect">
            <a:avLst>
              <a:gd name="adj" fmla="val 13333"/>
            </a:avLst>
          </a:prstGeom>
          <a:solidFill>
            <a:srgbClr val="0A1120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3602736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7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Oswald typeface UI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0352" y="4133088"/>
            <a:ext cx="2377440" cy="411480"/>
          </a:xfrm>
          <a:prstGeom prst="roundRect">
            <a:avLst>
              <a:gd name="adj" fmla="val 13333"/>
            </a:avLst>
          </a:prstGeom>
          <a:solidFill>
            <a:srgbClr val="0A1120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413308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7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Party-scoped state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18688" y="1389888"/>
            <a:ext cx="2697480" cy="3520440"/>
          </a:xfrm>
          <a:prstGeom prst="roundRect">
            <a:avLst>
              <a:gd name="adj" fmla="val 4068"/>
            </a:avLst>
          </a:prstGeom>
          <a:solidFill>
            <a:srgbClr val="0D1729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228600" dist="50800" dir="2700000">
              <a:srgbClr val="000000">
                <a:alpha val="5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55848" y="1481328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1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Contracts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383280" y="2011680"/>
            <a:ext cx="2377440" cy="411480"/>
          </a:xfrm>
          <a:prstGeom prst="roundRect">
            <a:avLst>
              <a:gd name="adj" fmla="val 13333"/>
            </a:avLst>
          </a:prstGeom>
          <a:solidFill>
            <a:srgbClr val="0A1120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20116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7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DAML 2.8 contracts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83280" y="2542032"/>
            <a:ext cx="2377440" cy="411480"/>
          </a:xfrm>
          <a:prstGeom prst="roundRect">
            <a:avLst>
              <a:gd name="adj" fmla="val 13333"/>
            </a:avLst>
          </a:prstGeom>
          <a:solidFill>
            <a:srgbClr val="0A1120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254203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7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OtcOrder template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83280" y="3072384"/>
            <a:ext cx="2377440" cy="411480"/>
          </a:xfrm>
          <a:prstGeom prst="roundRect">
            <a:avLst>
              <a:gd name="adj" fmla="val 13333"/>
            </a:avLst>
          </a:prstGeom>
          <a:solidFill>
            <a:srgbClr val="0A1120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3072384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7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CreditFacility template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83280" y="3602736"/>
            <a:ext cx="2377440" cy="411480"/>
          </a:xfrm>
          <a:prstGeom prst="roundRect">
            <a:avLst>
              <a:gd name="adj" fmla="val 13333"/>
            </a:avLst>
          </a:prstGeom>
          <a:solidFill>
            <a:srgbClr val="0A1120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3602736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7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ComplianceReport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383280" y="4133088"/>
            <a:ext cx="2377440" cy="411480"/>
          </a:xfrm>
          <a:prstGeom prst="roundRect">
            <a:avLst>
              <a:gd name="adj" fmla="val 13333"/>
            </a:avLst>
          </a:prstGeom>
          <a:solidFill>
            <a:srgbClr val="0A1120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413308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7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syndication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071616" y="1389888"/>
            <a:ext cx="2697480" cy="3520440"/>
          </a:xfrm>
          <a:prstGeom prst="roundRect">
            <a:avLst>
              <a:gd name="adj" fmla="val 4068"/>
            </a:avLst>
          </a:prstGeom>
          <a:solidFill>
            <a:srgbClr val="0D1729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228600" dist="50800" dir="2700000">
              <a:srgbClr val="000000">
                <a:alpha val="5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208776" y="1481328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6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36208" y="2011680"/>
            <a:ext cx="2377440" cy="411480"/>
          </a:xfrm>
          <a:prstGeom prst="roundRect">
            <a:avLst>
              <a:gd name="adj" fmla="val 13333"/>
            </a:avLst>
          </a:prstGeom>
          <a:solidFill>
            <a:srgbClr val="0A1120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36208" y="20116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7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Canton L1 nodes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36208" y="2542032"/>
            <a:ext cx="2377440" cy="411480"/>
          </a:xfrm>
          <a:prstGeom prst="roundRect">
            <a:avLst>
              <a:gd name="adj" fmla="val 13333"/>
            </a:avLst>
          </a:prstGeom>
          <a:solidFill>
            <a:srgbClr val="0A1120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36208" y="254203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7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DAML JSON API :7575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36208" y="3072384"/>
            <a:ext cx="2377440" cy="411480"/>
          </a:xfrm>
          <a:prstGeom prst="roundRect">
            <a:avLst>
              <a:gd name="adj" fmla="val 13333"/>
            </a:avLst>
          </a:prstGeom>
          <a:solidFill>
            <a:srgbClr val="0A1120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36208" y="3072384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7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Party-model auth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236208" y="3602736"/>
            <a:ext cx="2377440" cy="411480"/>
          </a:xfrm>
          <a:prstGeom prst="roundRect">
            <a:avLst>
              <a:gd name="adj" fmla="val 13333"/>
            </a:avLst>
          </a:prstGeom>
          <a:solidFill>
            <a:srgbClr val="0A1120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36208" y="3602736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7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Sub-transaction privacy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236208" y="4133088"/>
            <a:ext cx="2377440" cy="411480"/>
          </a:xfrm>
          <a:prstGeom prst="roundRect">
            <a:avLst>
              <a:gd name="adj" fmla="val 13333"/>
            </a:avLst>
          </a:prstGeom>
          <a:solidFill>
            <a:srgbClr val="0A1120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36208" y="413308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7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settlement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8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PARTIES &amp; ROLES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7EE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Sees What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481328"/>
            <a:ext cx="4023360" cy="1024128"/>
          </a:xfrm>
          <a:prstGeom prst="roundRect">
            <a:avLst>
              <a:gd name="adj" fmla="val 10714"/>
            </a:avLst>
          </a:prstGeom>
          <a:solidFill>
            <a:srgbClr val="0D1729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228600" dist="50800" dir="2700000">
              <a:srgbClr val="000000">
                <a:alpha val="5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0352" y="15727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🏛  BankA / BankB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0" y="159105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TRADERS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182112" y="1572768"/>
            <a:ext cx="1042416" cy="292608"/>
          </a:xfrm>
          <a:prstGeom prst="roundRect">
            <a:avLst>
              <a:gd name="adj" fmla="val 31250"/>
            </a:avLst>
          </a:prstGeom>
          <a:solidFill>
            <a:srgbClr val="2F9BFF"/>
          </a:solidFill>
          <a:ln w="12700">
            <a:solidFill>
              <a:srgbClr val="2F9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82112" y="1572768"/>
            <a:ext cx="10424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TRADERS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0352" y="1956816"/>
            <a:ext cx="3730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orders only — counterparty hidden until match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481328"/>
            <a:ext cx="4023360" cy="1024128"/>
          </a:xfrm>
          <a:prstGeom prst="roundRect">
            <a:avLst>
              <a:gd name="adj" fmla="val 10714"/>
            </a:avLst>
          </a:prstGeom>
          <a:solidFill>
            <a:srgbClr val="0D1729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228600" dist="50800" dir="2700000">
              <a:srgbClr val="000000">
                <a:alpha val="5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28032" y="15727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🛡  Guard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0" y="159105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SYNDICATION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479792" y="1572768"/>
            <a:ext cx="1042416" cy="292608"/>
          </a:xfrm>
          <a:prstGeom prst="roundRect">
            <a:avLst>
              <a:gd name="adj" fmla="val 31250"/>
            </a:avLst>
          </a:prstGeom>
          <a:solidFill>
            <a:srgbClr val="FF8A1E"/>
          </a:solidFill>
          <a:ln w="12700">
            <a:solidFill>
              <a:srgbClr val="FF8A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79792" y="1572768"/>
            <a:ext cx="10424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SYNDICATION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28032" y="1956816"/>
            <a:ext cx="3730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orders (price band only) for matching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2670048"/>
            <a:ext cx="4023360" cy="1024128"/>
          </a:xfrm>
          <a:prstGeom prst="roundRect">
            <a:avLst>
              <a:gd name="adj" fmla="val 10714"/>
            </a:avLst>
          </a:prstGeom>
          <a:solidFill>
            <a:srgbClr val="0D1729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228600" dist="50800" dir="2700000">
              <a:srgbClr val="000000">
                <a:alpha val="5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0352" y="27614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💼  Fund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00400" y="277977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2112" y="2761488"/>
            <a:ext cx="1042416" cy="292608"/>
          </a:xfrm>
          <a:prstGeom prst="roundRect">
            <a:avLst>
              <a:gd name="adj" fmla="val 31250"/>
            </a:avLst>
          </a:prstGeom>
          <a:solidFill>
            <a:srgbClr val="7FD4FF"/>
          </a:solidFill>
          <a:ln w="12700">
            <a:solidFill>
              <a:srgbClr val="7F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82112" y="2761488"/>
            <a:ext cx="10424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30352" y="3145536"/>
            <a:ext cx="3730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facilities they are invited to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63440" y="2670048"/>
            <a:ext cx="4023360" cy="1024128"/>
          </a:xfrm>
          <a:prstGeom prst="roundRect">
            <a:avLst>
              <a:gd name="adj" fmla="val 10714"/>
            </a:avLst>
          </a:prstGeom>
          <a:solidFill>
            <a:srgbClr val="0D1729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228600" dist="50800" dir="2700000">
              <a:srgbClr val="000000">
                <a:alpha val="5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28032" y="27614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A0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⚙  Logistics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98080" y="277977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479792" y="2761488"/>
            <a:ext cx="1042416" cy="292608"/>
          </a:xfrm>
          <a:prstGeom prst="roundRect">
            <a:avLst>
              <a:gd name="adj" fmla="val 31250"/>
            </a:avLst>
          </a:prstGeom>
          <a:solidFill>
            <a:srgbClr val="8AA0C0"/>
          </a:solidFill>
          <a:ln w="12700">
            <a:solidFill>
              <a:srgbClr val="8AA0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79792" y="2761488"/>
            <a:ext cx="10424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28032" y="3145536"/>
            <a:ext cx="3730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metadata, no trade data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65760" y="3858768"/>
            <a:ext cx="4023360" cy="1024128"/>
          </a:xfrm>
          <a:prstGeom prst="roundRect">
            <a:avLst>
              <a:gd name="adj" fmla="val 10714"/>
            </a:avLst>
          </a:prstGeom>
          <a:solidFill>
            <a:srgbClr val="0D1729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228600" dist="50800" dir="2700000">
              <a:srgbClr val="000000">
                <a:alpha val="5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30352" y="39502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 Verifier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00400" y="396849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182112" y="3950208"/>
            <a:ext cx="1042416" cy="292608"/>
          </a:xfrm>
          <a:prstGeom prst="roundRect">
            <a:avLst>
              <a:gd name="adj" fmla="val 31250"/>
            </a:avLst>
          </a:prstGeom>
          <a:solidFill>
            <a:srgbClr val="36D399"/>
          </a:solidFill>
          <a:ln w="12700">
            <a:solidFill>
              <a:srgbClr val="36D3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82112" y="3950208"/>
            <a:ext cx="10424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0352" y="4334256"/>
            <a:ext cx="3730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Cross-party summary proofs only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663440" y="3858768"/>
            <a:ext cx="4023360" cy="1024128"/>
          </a:xfrm>
          <a:prstGeom prst="roundRect">
            <a:avLst>
              <a:gd name="adj" fmla="val 10714"/>
            </a:avLst>
          </a:prstGeom>
          <a:solidFill>
            <a:srgbClr val="0D1729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228600" dist="50800" dir="2700000">
              <a:srgbClr val="000000">
                <a:alpha val="5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28032" y="39502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1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📋  Regulator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498080" y="396849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479792" y="3950208"/>
            <a:ext cx="1042416" cy="292608"/>
          </a:xfrm>
          <a:prstGeom prst="roundRect">
            <a:avLst>
              <a:gd name="adj" fmla="val 31250"/>
            </a:avLst>
          </a:prstGeom>
          <a:solidFill>
            <a:srgbClr val="FFB15E"/>
          </a:solidFill>
          <a:ln w="12700">
            <a:solidFill>
              <a:srgbClr val="FFB1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79792" y="3950208"/>
            <a:ext cx="10424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28032" y="4334256"/>
            <a:ext cx="3730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disclosure report on request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8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7EE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Enforced by Protocol, Not Policy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560320" cy="1280160"/>
          </a:xfrm>
          <a:prstGeom prst="roundRect">
            <a:avLst>
              <a:gd name="adj" fmla="val 10714"/>
            </a:avLst>
          </a:prstGeom>
          <a:solidFill>
            <a:srgbClr val="0D1729"/>
          </a:solidFill>
          <a:ln w="25400">
            <a:solidFill>
              <a:srgbClr val="7FD4FF"/>
            </a:solidFill>
            <a:prstDash val="solid"/>
          </a:ln>
          <a:effectLst>
            <a:outerShdw sx="100000" sy="100000" kx="0" ky="0" algn="bl" rotWithShape="0" blurRad="228600" dist="50800" dir="2700000">
              <a:srgbClr val="000000">
                <a:alpha val="5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41732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7F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zk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17627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50" kern="0" dirty="0">
                <a:solidFill>
                  <a:srgbClr val="8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ATTESTED PROOFS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1371600"/>
            <a:ext cx="2560320" cy="1280160"/>
          </a:xfrm>
          <a:prstGeom prst="roundRect">
            <a:avLst>
              <a:gd name="adj" fmla="val 10714"/>
            </a:avLst>
          </a:prstGeom>
          <a:solidFill>
            <a:srgbClr val="0D1729"/>
          </a:solidFill>
          <a:ln w="25400">
            <a:solidFill>
              <a:srgbClr val="36D399"/>
            </a:solidFill>
            <a:prstDash val="solid"/>
          </a:ln>
          <a:effectLst>
            <a:outerShdw sx="100000" sy="100000" kx="0" ky="0" algn="bl" rotWithShape="0" blurRad="228600" dist="50800" dir="2700000">
              <a:srgbClr val="000000">
                <a:alpha val="5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41732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6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3291840" y="217627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50" kern="0" dirty="0">
                <a:solidFill>
                  <a:srgbClr val="8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LEAKS TO NON-PARTIES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1371600"/>
            <a:ext cx="2560320" cy="1280160"/>
          </a:xfrm>
          <a:prstGeom prst="roundRect">
            <a:avLst>
              <a:gd name="adj" fmla="val 10714"/>
            </a:avLst>
          </a:prstGeom>
          <a:solidFill>
            <a:srgbClr val="0D1729"/>
          </a:solidFill>
          <a:ln w="25400">
            <a:solidFill>
              <a:srgbClr val="FFB15E"/>
            </a:solidFill>
            <a:prstDash val="solid"/>
          </a:ln>
          <a:effectLst>
            <a:outerShdw sx="100000" sy="100000" kx="0" ky="0" algn="bl" rotWithShape="0" blurRad="228600" dist="50800" dir="2700000">
              <a:srgbClr val="000000">
                <a:alpha val="5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41732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B1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∞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6126480" y="217627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50" kern="0" dirty="0">
                <a:solidFill>
                  <a:srgbClr val="8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PRIVACY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8229600" cy="960120"/>
          </a:xfrm>
          <a:prstGeom prst="roundRect">
            <a:avLst>
              <a:gd name="adj" fmla="val 11429"/>
            </a:avLst>
          </a:prstGeom>
          <a:solidFill>
            <a:srgbClr val="111E33"/>
          </a:solidFill>
          <a:ln w="12700">
            <a:solidFill>
              <a:srgbClr val="2F9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83464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7F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 Competitors see nothing. Privacy is enforced by the ledger — not by policy. "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7200" y="39776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DAML contract explicitly declares its observers. Canton routes data only to those parties — cryptographically, at the node level.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8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7EE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5-Step Live Demo Walkthrough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8096" y="1463040"/>
            <a:ext cx="713232" cy="713232"/>
          </a:xfrm>
          <a:prstGeom prst="ellipse">
            <a:avLst/>
          </a:prstGeom>
          <a:solidFill>
            <a:srgbClr val="2F9BFF">
              <a:alpha val="35000"/>
            </a:srgbClr>
          </a:solidFill>
          <a:ln w="12700">
            <a:solidFill>
              <a:srgbClr val="7F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46304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499616" y="1810512"/>
            <a:ext cx="457200" cy="0"/>
          </a:xfrm>
          <a:prstGeom prst="line">
            <a:avLst/>
          </a:prstGeom>
          <a:noFill/>
          <a:ln w="25400">
            <a:solidFill>
              <a:srgbClr val="2F9B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2331720"/>
            <a:ext cx="1682496" cy="2331720"/>
          </a:xfrm>
          <a:prstGeom prst="roundRect">
            <a:avLst>
              <a:gd name="adj" fmla="val 6522"/>
            </a:avLst>
          </a:prstGeom>
          <a:solidFill>
            <a:srgbClr val="0D1729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228600" dist="50800" dir="2700000">
              <a:srgbClr val="000000">
                <a:alpha val="5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2423160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F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Select Party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871216"/>
            <a:ext cx="1499616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BankA, BankB, Guard, etc. — each sees a different ledger view immediately.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87168" y="1463040"/>
            <a:ext cx="713232" cy="713232"/>
          </a:xfrm>
          <a:prstGeom prst="ellipse">
            <a:avLst/>
          </a:prstGeom>
          <a:solidFill>
            <a:srgbClr val="2F9BFF">
              <a:alpha val="35000"/>
            </a:srgbClr>
          </a:solidFill>
          <a:ln w="12700">
            <a:solidFill>
              <a:srgbClr val="7F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87168" y="146304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218688" y="1810512"/>
            <a:ext cx="457200" cy="0"/>
          </a:xfrm>
          <a:prstGeom prst="line">
            <a:avLst/>
          </a:prstGeom>
          <a:noFill/>
          <a:ln w="25400">
            <a:solidFill>
              <a:srgbClr val="2F9B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93392" y="2331720"/>
            <a:ext cx="1682496" cy="2331720"/>
          </a:xfrm>
          <a:prstGeom prst="roundRect">
            <a:avLst>
              <a:gd name="adj" fmla="val 6522"/>
            </a:avLst>
          </a:prstGeom>
          <a:solidFill>
            <a:srgbClr val="0D1729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228600" dist="50800" dir="2700000">
              <a:srgbClr val="000000">
                <a:alpha val="5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084832" y="2423160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F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Submit Private Order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84832" y="2871216"/>
            <a:ext cx="1499616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the OTC form with instrument, qty, limit price. The order is committed only to Guard.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06240" y="1463040"/>
            <a:ext cx="713232" cy="713232"/>
          </a:xfrm>
          <a:prstGeom prst="ellipse">
            <a:avLst/>
          </a:prstGeom>
          <a:solidFill>
            <a:srgbClr val="2F9BFF"/>
          </a:solidFill>
          <a:ln w="25400">
            <a:solidFill>
              <a:srgbClr val="7F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0" y="146304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937760" y="1810512"/>
            <a:ext cx="457200" cy="0"/>
          </a:xfrm>
          <a:prstGeom prst="line">
            <a:avLst/>
          </a:prstGeom>
          <a:noFill/>
          <a:ln w="25400">
            <a:solidFill>
              <a:srgbClr val="2F9B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12464" y="2331720"/>
            <a:ext cx="1682496" cy="2331720"/>
          </a:xfrm>
          <a:prstGeom prst="roundRect">
            <a:avLst>
              <a:gd name="adj" fmla="val 6522"/>
            </a:avLst>
          </a:prstGeom>
          <a:solidFill>
            <a:srgbClr val="0D1729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228600" dist="50800" dir="2700000">
              <a:srgbClr val="000000">
                <a:alpha val="5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803904" y="2423160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F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Guard Syndicates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03904" y="2871216"/>
            <a:ext cx="1499616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Guard view — see incoming orders (price band only, identity redacted). Match them.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25312" y="1463040"/>
            <a:ext cx="713232" cy="713232"/>
          </a:xfrm>
          <a:prstGeom prst="ellipse">
            <a:avLst/>
          </a:prstGeom>
          <a:solidFill>
            <a:srgbClr val="2F9BFF">
              <a:alpha val="35000"/>
            </a:srgbClr>
          </a:solidFill>
          <a:ln w="12700">
            <a:solidFill>
              <a:srgbClr val="7FD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25312" y="146304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656832" y="1810512"/>
            <a:ext cx="457200" cy="0"/>
          </a:xfrm>
          <a:prstGeom prst="line">
            <a:avLst/>
          </a:prstGeom>
          <a:noFill/>
          <a:ln w="25400">
            <a:solidFill>
              <a:srgbClr val="2F9B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31536" y="2331720"/>
            <a:ext cx="1682496" cy="2331720"/>
          </a:xfrm>
          <a:prstGeom prst="roundRect">
            <a:avLst>
              <a:gd name="adj" fmla="val 6522"/>
            </a:avLst>
          </a:prstGeom>
          <a:solidFill>
            <a:srgbClr val="0D1729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228600" dist="50800" dir="2700000">
              <a:srgbClr val="000000">
                <a:alpha val="5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522976" y="2423160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F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Counterparty Match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22976" y="2871216"/>
            <a:ext cx="1499616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BankB — see a matched trade appear. BankA's identity is still hidden.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644384" y="1463040"/>
            <a:ext cx="713232" cy="713232"/>
          </a:xfrm>
          <a:prstGeom prst="ellipse">
            <a:avLst/>
          </a:prstGeom>
          <a:solidFill>
            <a:srgbClr val="2F9BFF">
              <a:alpha val="35000"/>
            </a:srgbClr>
          </a:solidFill>
          <a:ln w="12700">
            <a:solidFill>
              <a:srgbClr val="7FD4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44384" y="146304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7150608" y="2331720"/>
            <a:ext cx="1682496" cy="2331720"/>
          </a:xfrm>
          <a:prstGeom prst="roundRect">
            <a:avLst>
              <a:gd name="adj" fmla="val 6522"/>
            </a:avLst>
          </a:prstGeom>
          <a:solidFill>
            <a:srgbClr val="0D1729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228600" dist="50800" dir="2700000">
              <a:srgbClr val="000000">
                <a:alpha val="5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242048" y="2423160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F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Compliance Report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242048" y="2871216"/>
            <a:ext cx="1499616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Regulator — full disclosure view. Verifier sees aggregate proofs only.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-914400"/>
            <a:ext cx="2743200" cy="2743200"/>
          </a:xfrm>
          <a:prstGeom prst="ellipse">
            <a:avLst/>
          </a:prstGeom>
          <a:solidFill>
            <a:srgbClr val="2F9BFF">
              <a:alpha val="10000"/>
            </a:srgbClr>
          </a:solidFill>
          <a:ln w="12700">
            <a:solidFill>
              <a:srgbClr val="2F9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spc="600" kern="0" dirty="0">
                <a:solidFill>
                  <a:srgbClr val="7F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CANTONGUN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200" kern="0" dirty="0">
                <a:solidFill>
                  <a:srgbClr val="8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Capital Markets · Canton L1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97280" y="1965960"/>
            <a:ext cx="6949440" cy="713232"/>
          </a:xfrm>
          <a:prstGeom prst="roundRect">
            <a:avLst>
              <a:gd name="adj" fmla="val 15385"/>
            </a:avLst>
          </a:prstGeom>
          <a:solidFill>
            <a:srgbClr val="0D1729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228600" dist="50800" dir="27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280160" y="20391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1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🌐  Live Demo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017520" y="205740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localhost:3000  (run daml start + npm run dev)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97280" y="2880360"/>
            <a:ext cx="6949440" cy="713232"/>
          </a:xfrm>
          <a:prstGeom prst="roundRect">
            <a:avLst>
              <a:gd name="adj" fmla="val 15385"/>
            </a:avLst>
          </a:prstGeom>
          <a:solidFill>
            <a:srgbClr val="0D1729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228600" dist="50800" dir="27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280160" y="29535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1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💾  Source Code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17520" y="297180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— CantonGun DApp repository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97280" y="3794760"/>
            <a:ext cx="6949440" cy="713232"/>
          </a:xfrm>
          <a:prstGeom prst="roundRect">
            <a:avLst>
              <a:gd name="adj" fmla="val 15385"/>
            </a:avLst>
          </a:prstGeom>
          <a:solidFill>
            <a:srgbClr val="0D1729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228600" dist="50800" dir="27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280160" y="38679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1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🏆  Hackathon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17520" y="388620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Canton Hackathon 2024 submission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spc="100" kern="0" dirty="0">
                <a:solidFill>
                  <a:srgbClr val="8AA0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 We enforce NDAs mathematically. "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CantonGun — Confidential Capital Markets on Canton L1</dc:title>
  <dc:subject>PptxGenJS Presentation</dc:subject>
  <dc:creator>Graham Byagaba</dc:creator>
  <cp:lastModifiedBy>Graham Byagaba</cp:lastModifiedBy>
  <cp:revision>1</cp:revision>
  <dcterms:created xsi:type="dcterms:W3CDTF">2026-06-26T04:42:44Z</dcterms:created>
  <dcterms:modified xsi:type="dcterms:W3CDTF">2026-06-26T04:42:44Z</dcterms:modified>
</cp:coreProperties>
</file>